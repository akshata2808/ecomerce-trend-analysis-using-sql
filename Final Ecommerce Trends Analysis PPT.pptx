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raunces" charset="1" panose="00000000000000000000"/>
      <p:regular r:id="rId19"/>
    </p:embeddedFont>
    <p:embeddedFont>
      <p:font typeface="Arimo" charset="1" panose="020B0604020202020204"/>
      <p:regular r:id="rId21"/>
    </p:embeddedFont>
    <p:embeddedFont>
      <p:font typeface="Arimo Bold" charset="1" panose="020B0704020202020204"/>
      <p:regular r:id="rId23"/>
    </p:embeddedFont>
    <p:embeddedFont>
      <p:font typeface="Consolas" charset="1" panose="020B0609020204030204"/>
      <p:regular r:id="rId25"/>
    </p:embeddedFont>
    <p:embeddedFont>
      <p:font typeface="Consolas Bold" charset="1" panose="020B0709020204030204"/>
      <p:regular r:id="rId31"/>
    </p:embeddedFont>
    <p:embeddedFont>
      <p:font typeface="Canva Sans Bold" charset="1" panose="020B08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45133" y="2458190"/>
            <a:ext cx="14397735" cy="8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E-commerce Trends Analysis using SQL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64068" y="3954622"/>
            <a:ext cx="7959864" cy="13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Insights on Sales, Customers, and Operations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7120" y="9225683"/>
            <a:ext cx="7959864" cy="210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0"/>
              </a:lnSpc>
            </a:pPr>
            <a:r>
              <a:rPr lang="en-US" sz="4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--- TEAM 4</a:t>
            </a:r>
          </a:p>
          <a:p>
            <a:pPr algn="ctr">
              <a:lnSpc>
                <a:spcPts val="5560"/>
              </a:lnSpc>
            </a:pPr>
          </a:p>
          <a:p>
            <a:pPr algn="ctr">
              <a:lnSpc>
                <a:spcPts val="5562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627137"/>
            <a:ext cx="16303526" cy="8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Abstract: SQL in E-commerce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774" y="3136478"/>
            <a:ext cx="16303526" cy="174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2"/>
              </a:lnSpc>
            </a:pPr>
            <a:r>
              <a:rPr lang="en-US" sz="28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This presentation shows how SQL can be used to study e-commerce data. By looking at sales, customer behaviour, and daily operations, businesses can make smarter decisions that help them grow and work more efficiently.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6090196"/>
            <a:ext cx="5245447" cy="2550616"/>
            <a:chOff x="0" y="0"/>
            <a:chExt cx="6993930" cy="3400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3400806"/>
            </a:xfrm>
            <a:custGeom>
              <a:avLst/>
              <a:gdLst/>
              <a:ahLst/>
              <a:cxnLst/>
              <a:rect r="r" b="b" t="t" l="l"/>
              <a:pathLst>
                <a:path h="34008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156966"/>
                  </a:lnTo>
                  <a:cubicBezTo>
                    <a:pt x="6993890" y="3291586"/>
                    <a:pt x="6884670" y="3400806"/>
                    <a:pt x="6750050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6052096"/>
            <a:ext cx="5245447" cy="152400"/>
            <a:chOff x="0" y="0"/>
            <a:chExt cx="699393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189610" y="5664994"/>
            <a:ext cx="850552" cy="850552"/>
            <a:chOff x="0" y="0"/>
            <a:chExt cx="1134070" cy="11340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3444701" y="5877669"/>
            <a:ext cx="340221" cy="425203"/>
            <a:chOff x="0" y="0"/>
            <a:chExt cx="453628" cy="56693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53644" cy="566928"/>
            </a:xfrm>
            <a:custGeom>
              <a:avLst/>
              <a:gdLst/>
              <a:ahLst/>
              <a:cxnLst/>
              <a:rect r="r" b="b" t="t" l="l"/>
              <a:pathLst>
                <a:path h="566928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" r="3" b="-1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13855" y="6789390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Sales Trends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3855" y="7307164"/>
            <a:ext cx="460221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Identify top-performing products and revenue streams.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1202" y="6090196"/>
            <a:ext cx="5245447" cy="2550616"/>
            <a:chOff x="0" y="0"/>
            <a:chExt cx="6993930" cy="340082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3400806"/>
            </a:xfrm>
            <a:custGeom>
              <a:avLst/>
              <a:gdLst/>
              <a:ahLst/>
              <a:cxnLst/>
              <a:rect r="r" b="b" t="t" l="l"/>
              <a:pathLst>
                <a:path h="34008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156966"/>
                  </a:lnTo>
                  <a:cubicBezTo>
                    <a:pt x="6993890" y="3291586"/>
                    <a:pt x="6884670" y="3400806"/>
                    <a:pt x="6750050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21202" y="6052096"/>
            <a:ext cx="5245447" cy="152400"/>
            <a:chOff x="0" y="0"/>
            <a:chExt cx="6993930" cy="20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18575" y="5664994"/>
            <a:ext cx="850552" cy="850552"/>
            <a:chOff x="0" y="0"/>
            <a:chExt cx="1134070" cy="11340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973666" y="5877669"/>
            <a:ext cx="340221" cy="425203"/>
            <a:chOff x="0" y="0"/>
            <a:chExt cx="453628" cy="566937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53644" cy="566928"/>
            </a:xfrm>
            <a:custGeom>
              <a:avLst/>
              <a:gdLst/>
              <a:ahLst/>
              <a:cxnLst/>
              <a:rect r="r" b="b" t="t" l="l"/>
              <a:pathLst>
                <a:path h="566928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" r="3" b="-1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842820" y="6789390"/>
            <a:ext cx="354404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Customer Behaviour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42820" y="7307164"/>
            <a:ext cx="460221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Understand purchasing patterns and customer segments.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2050166" y="6090196"/>
            <a:ext cx="5245447" cy="2550616"/>
            <a:chOff x="0" y="0"/>
            <a:chExt cx="6993930" cy="340082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93890" cy="3400806"/>
            </a:xfrm>
            <a:custGeom>
              <a:avLst/>
              <a:gdLst/>
              <a:ahLst/>
              <a:cxnLst/>
              <a:rect r="r" b="b" t="t" l="l"/>
              <a:pathLst>
                <a:path h="3400806" w="69938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50050" y="0"/>
                  </a:lnTo>
                  <a:cubicBezTo>
                    <a:pt x="6884670" y="0"/>
                    <a:pt x="6993890" y="109220"/>
                    <a:pt x="6993890" y="243840"/>
                  </a:cubicBezTo>
                  <a:lnTo>
                    <a:pt x="6993890" y="3156966"/>
                  </a:lnTo>
                  <a:cubicBezTo>
                    <a:pt x="6993890" y="3291586"/>
                    <a:pt x="6884670" y="3400806"/>
                    <a:pt x="6750050" y="3400806"/>
                  </a:cubicBezTo>
                  <a:lnTo>
                    <a:pt x="243840" y="3400806"/>
                  </a:lnTo>
                  <a:cubicBezTo>
                    <a:pt x="109220" y="3400806"/>
                    <a:pt x="0" y="3291586"/>
                    <a:pt x="0" y="3156966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050166" y="6052096"/>
            <a:ext cx="5245447" cy="152400"/>
            <a:chOff x="0" y="0"/>
            <a:chExt cx="6993930" cy="203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93890" cy="203200"/>
            </a:xfrm>
            <a:custGeom>
              <a:avLst/>
              <a:gdLst/>
              <a:ahLst/>
              <a:cxnLst/>
              <a:rect r="r" b="b" t="t" l="l"/>
              <a:pathLst>
                <a:path h="203200" w="699389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lnTo>
                    <a:pt x="6892290" y="0"/>
                  </a:lnTo>
                  <a:cubicBezTo>
                    <a:pt x="6948424" y="0"/>
                    <a:pt x="6993890" y="45466"/>
                    <a:pt x="6993890" y="101600"/>
                  </a:cubicBezTo>
                  <a:cubicBezTo>
                    <a:pt x="6993890" y="157734"/>
                    <a:pt x="6948424" y="203200"/>
                    <a:pt x="6892290" y="203200"/>
                  </a:cubicBezTo>
                  <a:lnTo>
                    <a:pt x="101600" y="203200"/>
                  </a:lnTo>
                  <a:cubicBezTo>
                    <a:pt x="45466" y="203200"/>
                    <a:pt x="0" y="157734"/>
                    <a:pt x="0" y="101600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247540" y="5664994"/>
            <a:ext cx="850553" cy="850552"/>
            <a:chOff x="0" y="0"/>
            <a:chExt cx="1134070" cy="11340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4502631" y="5877669"/>
            <a:ext cx="340221" cy="425203"/>
            <a:chOff x="0" y="0"/>
            <a:chExt cx="453628" cy="566937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453644" cy="566928"/>
            </a:xfrm>
            <a:custGeom>
              <a:avLst/>
              <a:gdLst/>
              <a:ahLst/>
              <a:cxnLst/>
              <a:rect r="r" b="b" t="t" l="l"/>
              <a:pathLst>
                <a:path h="566928" w="453644">
                  <a:moveTo>
                    <a:pt x="0" y="0"/>
                  </a:moveTo>
                  <a:lnTo>
                    <a:pt x="453644" y="0"/>
                  </a:lnTo>
                  <a:lnTo>
                    <a:pt x="453644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" r="3" b="-1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371784" y="6789390"/>
            <a:ext cx="379988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Operational Efficiency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71784" y="7307164"/>
            <a:ext cx="46022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Optimise inventory, pricing, and shipping logistics.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7338" y="1604905"/>
            <a:ext cx="11764060" cy="86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E-commerce Database 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620" y="3245078"/>
            <a:ext cx="17439380" cy="629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6"/>
              </a:lnSpc>
              <a:spcBef>
                <a:spcPct val="0"/>
              </a:spcBef>
            </a:pPr>
            <a:r>
              <a:rPr lang="en-US" sz="23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E The foundation of our analysis is a well-structured database. Our schema includes key tables such as Users, Customers, Products, Orders, OrderDetails, Coupons, OrderCoupons, ProductReviews, Shipments, and Cart. This design facilitates comprehensive data retrieval and analysis across various e-commerce functions.</a:t>
            </a:r>
          </a:p>
          <a:p>
            <a:pPr algn="l">
              <a:lnSpc>
                <a:spcPts val="3562"/>
              </a:lnSpc>
              <a:spcBef>
                <a:spcPct val="0"/>
              </a:spcBef>
            </a:pP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Users: Manages login and system roles.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Customers: Stores customer details.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Products: Contains information about available items.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Orders &amp; OrderDetails: Manage transactions and item breakdowns.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Coupons &amp; OrderCoupons: Handle discounts and coupon applications.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ProductReviews: Stores customer feedback and ratings.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Shipments: Tracks order shipping and delivery status.</a:t>
            </a:r>
          </a:p>
          <a:p>
            <a:pPr algn="l" marL="580229" indent="-290115" lvl="1">
              <a:lnSpc>
                <a:spcPts val="4376"/>
              </a:lnSpc>
              <a:buFont typeface="Arial"/>
              <a:buChar char="•"/>
            </a:pPr>
            <a:r>
              <a:rPr lang="en-US" b="true" sz="2687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Cart: Maintains temporary selections before checkout.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4419" y="2920013"/>
            <a:ext cx="5136356" cy="2553510"/>
            <a:chOff x="0" y="0"/>
            <a:chExt cx="6848475" cy="34046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48475" cy="3404591"/>
            </a:xfrm>
            <a:custGeom>
              <a:avLst/>
              <a:gdLst/>
              <a:ahLst/>
              <a:cxnLst/>
              <a:rect r="r" b="b" t="t" l="l"/>
              <a:pathLst>
                <a:path h="3404591" w="6848475">
                  <a:moveTo>
                    <a:pt x="0" y="45994"/>
                  </a:moveTo>
                  <a:cubicBezTo>
                    <a:pt x="0" y="20585"/>
                    <a:pt x="22225" y="0"/>
                    <a:pt x="49657" y="0"/>
                  </a:cubicBezTo>
                  <a:lnTo>
                    <a:pt x="6798818" y="0"/>
                  </a:lnTo>
                  <a:cubicBezTo>
                    <a:pt x="6826250" y="0"/>
                    <a:pt x="6848475" y="20585"/>
                    <a:pt x="6848475" y="45994"/>
                  </a:cubicBezTo>
                  <a:lnTo>
                    <a:pt x="6848475" y="3358597"/>
                  </a:lnTo>
                  <a:cubicBezTo>
                    <a:pt x="6848475" y="3384005"/>
                    <a:pt x="6826250" y="3404591"/>
                    <a:pt x="6798818" y="3404591"/>
                  </a:cubicBezTo>
                  <a:lnTo>
                    <a:pt x="49657" y="3404591"/>
                  </a:lnTo>
                  <a:cubicBezTo>
                    <a:pt x="22225" y="3404591"/>
                    <a:pt x="0" y="3384005"/>
                    <a:pt x="0" y="3358597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065304" y="2707288"/>
            <a:ext cx="5021611" cy="4036061"/>
            <a:chOff x="0" y="0"/>
            <a:chExt cx="6695481" cy="53814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5529" cy="5381511"/>
            </a:xfrm>
            <a:custGeom>
              <a:avLst/>
              <a:gdLst/>
              <a:ahLst/>
              <a:cxnLst/>
              <a:rect r="r" b="b" t="t" l="l"/>
              <a:pathLst>
                <a:path h="5381511" w="6695529">
                  <a:moveTo>
                    <a:pt x="0" y="129254"/>
                  </a:moveTo>
                  <a:cubicBezTo>
                    <a:pt x="0" y="57905"/>
                    <a:pt x="61259" y="0"/>
                    <a:pt x="136740" y="0"/>
                  </a:cubicBezTo>
                  <a:lnTo>
                    <a:pt x="6558787" y="0"/>
                  </a:lnTo>
                  <a:cubicBezTo>
                    <a:pt x="6634269" y="0"/>
                    <a:pt x="6695529" y="57905"/>
                    <a:pt x="6695529" y="129254"/>
                  </a:cubicBezTo>
                  <a:lnTo>
                    <a:pt x="6695529" y="5252250"/>
                  </a:lnTo>
                  <a:cubicBezTo>
                    <a:pt x="6695529" y="5323599"/>
                    <a:pt x="6634269" y="5381511"/>
                    <a:pt x="6558787" y="5381511"/>
                  </a:cubicBezTo>
                  <a:lnTo>
                    <a:pt x="136740" y="5381511"/>
                  </a:lnTo>
                  <a:cubicBezTo>
                    <a:pt x="61259" y="5381386"/>
                    <a:pt x="0" y="5323599"/>
                    <a:pt x="0" y="5252250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28912" y="3101766"/>
            <a:ext cx="5136356" cy="2493663"/>
            <a:chOff x="0" y="0"/>
            <a:chExt cx="6848475" cy="33248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48475" cy="3324839"/>
            </a:xfrm>
            <a:custGeom>
              <a:avLst/>
              <a:gdLst/>
              <a:ahLst/>
              <a:cxnLst/>
              <a:rect r="r" b="b" t="t" l="l"/>
              <a:pathLst>
                <a:path h="3324839" w="6848475">
                  <a:moveTo>
                    <a:pt x="0" y="34865"/>
                  </a:moveTo>
                  <a:cubicBezTo>
                    <a:pt x="0" y="15605"/>
                    <a:pt x="22225" y="0"/>
                    <a:pt x="49657" y="0"/>
                  </a:cubicBezTo>
                  <a:lnTo>
                    <a:pt x="6798818" y="0"/>
                  </a:lnTo>
                  <a:cubicBezTo>
                    <a:pt x="6826250" y="0"/>
                    <a:pt x="6848475" y="15605"/>
                    <a:pt x="6848475" y="34865"/>
                  </a:cubicBezTo>
                  <a:lnTo>
                    <a:pt x="6848475" y="3289974"/>
                  </a:lnTo>
                  <a:cubicBezTo>
                    <a:pt x="6848475" y="3309234"/>
                    <a:pt x="6826250" y="3324839"/>
                    <a:pt x="6798818" y="3324839"/>
                  </a:cubicBezTo>
                  <a:lnTo>
                    <a:pt x="49657" y="3324839"/>
                  </a:lnTo>
                  <a:cubicBezTo>
                    <a:pt x="22225" y="3324839"/>
                    <a:pt x="0" y="3309234"/>
                    <a:pt x="0" y="3289974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081112" y="7736491"/>
            <a:ext cx="6396388" cy="1780243"/>
          </a:xfrm>
          <a:custGeom>
            <a:avLst/>
            <a:gdLst/>
            <a:ahLst/>
            <a:cxnLst/>
            <a:rect r="r" b="b" t="t" l="l"/>
            <a:pathLst>
              <a:path h="1780243" w="6396388">
                <a:moveTo>
                  <a:pt x="0" y="0"/>
                </a:moveTo>
                <a:lnTo>
                  <a:pt x="6396388" y="0"/>
                </a:lnTo>
                <a:lnTo>
                  <a:pt x="6396388" y="1780243"/>
                </a:lnTo>
                <a:lnTo>
                  <a:pt x="0" y="178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023" t="0" r="-902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4975" y="6743349"/>
            <a:ext cx="4728012" cy="2514951"/>
          </a:xfrm>
          <a:custGeom>
            <a:avLst/>
            <a:gdLst/>
            <a:ahLst/>
            <a:cxnLst/>
            <a:rect r="r" b="b" t="t" l="l"/>
            <a:pathLst>
              <a:path h="2514951" w="4728012">
                <a:moveTo>
                  <a:pt x="0" y="0"/>
                </a:moveTo>
                <a:lnTo>
                  <a:pt x="4728012" y="0"/>
                </a:lnTo>
                <a:lnTo>
                  <a:pt x="4728012" y="2514951"/>
                </a:lnTo>
                <a:lnTo>
                  <a:pt x="0" y="2514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23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02447" y="2554458"/>
            <a:ext cx="4884793" cy="434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5"/>
              </a:lnSpc>
            </a:pP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CREATE VIEW OrderSummary AS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o.OrderID,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c.Name AS CustomerName,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o.Status AS OrderStatus,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o.OrderDate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Orders o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Customers c ON o.CustomerID = c.CustomerID;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* FROM OrderSummary</a:t>
            </a:r>
          </a:p>
          <a:p>
            <a:pPr algn="l">
              <a:lnSpc>
                <a:spcPts val="2654"/>
              </a:lnSpc>
            </a:pPr>
            <a:r>
              <a:rPr lang="en-US" sz="164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WHERE OrderStatus = 'Shipped';</a:t>
            </a:r>
          </a:p>
          <a:p>
            <a:pPr algn="l">
              <a:lnSpc>
                <a:spcPts val="2654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706180" y="7233729"/>
            <a:ext cx="6581820" cy="2157118"/>
          </a:xfrm>
          <a:custGeom>
            <a:avLst/>
            <a:gdLst/>
            <a:ahLst/>
            <a:cxnLst/>
            <a:rect r="r" b="b" t="t" l="l"/>
            <a:pathLst>
              <a:path h="2157118" w="6581820">
                <a:moveTo>
                  <a:pt x="0" y="0"/>
                </a:moveTo>
                <a:lnTo>
                  <a:pt x="6581820" y="0"/>
                </a:lnTo>
                <a:lnTo>
                  <a:pt x="6581820" y="2157118"/>
                </a:lnTo>
                <a:lnTo>
                  <a:pt x="0" y="2157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51" r="-1710" b="-951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3920735" y="5595429"/>
            <a:ext cx="1663109" cy="166310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8C98C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-104775"/>
              <a:ext cx="406400" cy="81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87994" y="186213"/>
            <a:ext cx="13882687" cy="75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Operational Efficiency: Streamlining Processes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0362" y="1973863"/>
            <a:ext cx="511165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What is the d</a:t>
            </a:r>
            <a:r>
              <a:rPr lang="en-US" sz="2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elivery time for each completed order?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0362" y="2987520"/>
            <a:ext cx="4639568" cy="275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OrderID,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DATEDIFF(DeliveredDate, ShippedDate) AS DeliveryTimeInDays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Shipments</a:t>
            </a:r>
          </a:p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WHERE Status = 'Delivered';</a:t>
            </a:r>
          </a:p>
          <a:p>
            <a:pPr algn="l">
              <a:lnSpc>
                <a:spcPts val="312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072424" y="1299199"/>
            <a:ext cx="5904156" cy="125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7"/>
              </a:lnSpc>
            </a:pPr>
            <a:r>
              <a:rPr lang="en-US" sz="20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Create a view that shows all o</a:t>
            </a:r>
            <a:r>
              <a:rPr lang="en-US" sz="20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rders along with customer names and order statuses, and how can you query this view to get all 'Shipped' orders?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19733" y="3299204"/>
            <a:ext cx="4639568" cy="197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ELECT OrderID, CustomerID, OrderDate, TotalAmount, Status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</a:p>
          <a:p>
            <a:pPr algn="l">
              <a:lnSpc>
                <a:spcPts val="3123"/>
              </a:lnSpc>
            </a:pPr>
            <a:r>
              <a:rPr lang="en-US" sz="1937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WHERE YEAR(OrderDate) = 2024;</a:t>
            </a:r>
          </a:p>
          <a:p>
            <a:pPr algn="l">
              <a:lnSpc>
                <a:spcPts val="312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2552187" y="2362800"/>
            <a:ext cx="463956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Which o</a:t>
            </a:r>
            <a:r>
              <a:rPr lang="en-US" sz="21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rders were placed in the year 2024?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079539" y="6743349"/>
            <a:ext cx="993142" cy="1055484"/>
            <a:chOff x="0" y="0"/>
            <a:chExt cx="812800" cy="8638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63821"/>
            </a:xfrm>
            <a:custGeom>
              <a:avLst/>
              <a:gdLst/>
              <a:ahLst/>
              <a:cxnLst/>
              <a:rect r="r" b="b" t="t" l="l"/>
              <a:pathLst>
                <a:path h="863821" w="812800">
                  <a:moveTo>
                    <a:pt x="406400" y="863821"/>
                  </a:moveTo>
                  <a:lnTo>
                    <a:pt x="0" y="457421"/>
                  </a:lnTo>
                  <a:lnTo>
                    <a:pt x="203200" y="45742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57421"/>
                  </a:lnTo>
                  <a:lnTo>
                    <a:pt x="812800" y="457421"/>
                  </a:lnTo>
                  <a:lnTo>
                    <a:pt x="406400" y="863821"/>
                  </a:lnTo>
                  <a:close/>
                </a:path>
              </a:pathLst>
            </a:custGeom>
            <a:solidFill>
              <a:srgbClr val="8C98C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203200" y="-104775"/>
              <a:ext cx="406400" cy="8669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852133" y="5505031"/>
            <a:ext cx="1272584" cy="1238318"/>
            <a:chOff x="0" y="0"/>
            <a:chExt cx="812800" cy="7909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90914"/>
            </a:xfrm>
            <a:custGeom>
              <a:avLst/>
              <a:gdLst/>
              <a:ahLst/>
              <a:cxnLst/>
              <a:rect r="r" b="b" t="t" l="l"/>
              <a:pathLst>
                <a:path h="790914" w="812800">
                  <a:moveTo>
                    <a:pt x="406400" y="790914"/>
                  </a:moveTo>
                  <a:lnTo>
                    <a:pt x="0" y="384514"/>
                  </a:lnTo>
                  <a:lnTo>
                    <a:pt x="203200" y="384514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384514"/>
                  </a:lnTo>
                  <a:lnTo>
                    <a:pt x="812800" y="384514"/>
                  </a:lnTo>
                  <a:lnTo>
                    <a:pt x="406400" y="790914"/>
                  </a:lnTo>
                  <a:close/>
                </a:path>
              </a:pathLst>
            </a:custGeom>
            <a:solidFill>
              <a:srgbClr val="8C98C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03200" y="-104775"/>
              <a:ext cx="406400" cy="794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3924" y="2439032"/>
            <a:ext cx="8261828" cy="2637084"/>
            <a:chOff x="0" y="0"/>
            <a:chExt cx="10665420" cy="34042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65460" cy="3404315"/>
            </a:xfrm>
            <a:custGeom>
              <a:avLst/>
              <a:gdLst/>
              <a:ahLst/>
              <a:cxnLst/>
              <a:rect r="r" b="b" t="t" l="l"/>
              <a:pathLst>
                <a:path h="3404315" w="10665460">
                  <a:moveTo>
                    <a:pt x="0" y="181054"/>
                  </a:moveTo>
                  <a:cubicBezTo>
                    <a:pt x="0" y="81051"/>
                    <a:pt x="60833" y="0"/>
                    <a:pt x="135890" y="0"/>
                  </a:cubicBezTo>
                  <a:lnTo>
                    <a:pt x="10529570" y="0"/>
                  </a:lnTo>
                  <a:cubicBezTo>
                    <a:pt x="10604626" y="0"/>
                    <a:pt x="10665460" y="81051"/>
                    <a:pt x="10665460" y="181054"/>
                  </a:cubicBezTo>
                  <a:lnTo>
                    <a:pt x="10665460" y="3223272"/>
                  </a:lnTo>
                  <a:cubicBezTo>
                    <a:pt x="10665460" y="3323275"/>
                    <a:pt x="10604626" y="3404315"/>
                    <a:pt x="10529570" y="3404315"/>
                  </a:cubicBezTo>
                  <a:lnTo>
                    <a:pt x="135890" y="3404315"/>
                  </a:lnTo>
                  <a:cubicBezTo>
                    <a:pt x="60833" y="3404315"/>
                    <a:pt x="0" y="3323275"/>
                    <a:pt x="0" y="3223272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36125" y="2342902"/>
            <a:ext cx="8023175" cy="3080743"/>
            <a:chOff x="0" y="0"/>
            <a:chExt cx="10697567" cy="4107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7591" cy="4107688"/>
            </a:xfrm>
            <a:custGeom>
              <a:avLst/>
              <a:gdLst/>
              <a:ahLst/>
              <a:cxnLst/>
              <a:rect r="r" b="b" t="t" l="l"/>
              <a:pathLst>
                <a:path h="4107688" w="10697591">
                  <a:moveTo>
                    <a:pt x="0" y="48514"/>
                  </a:moveTo>
                  <a:cubicBezTo>
                    <a:pt x="0" y="21717"/>
                    <a:pt x="21717" y="0"/>
                    <a:pt x="48514" y="0"/>
                  </a:cubicBezTo>
                  <a:lnTo>
                    <a:pt x="10649077" y="0"/>
                  </a:lnTo>
                  <a:cubicBezTo>
                    <a:pt x="10675874" y="0"/>
                    <a:pt x="10697591" y="21717"/>
                    <a:pt x="10697591" y="48514"/>
                  </a:cubicBezTo>
                  <a:lnTo>
                    <a:pt x="10697591" y="4059174"/>
                  </a:lnTo>
                  <a:cubicBezTo>
                    <a:pt x="10697591" y="4085971"/>
                    <a:pt x="10675874" y="4107688"/>
                    <a:pt x="10649077" y="4107688"/>
                  </a:cubicBezTo>
                  <a:lnTo>
                    <a:pt x="48514" y="4107688"/>
                  </a:lnTo>
                  <a:cubicBezTo>
                    <a:pt x="21717" y="4107688"/>
                    <a:pt x="0" y="4085971"/>
                    <a:pt x="0" y="4059174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463009" y="6482119"/>
            <a:ext cx="4348748" cy="3458568"/>
          </a:xfrm>
          <a:custGeom>
            <a:avLst/>
            <a:gdLst/>
            <a:ahLst/>
            <a:cxnLst/>
            <a:rect r="r" b="b" t="t" l="l"/>
            <a:pathLst>
              <a:path h="3458568" w="4348748">
                <a:moveTo>
                  <a:pt x="0" y="0"/>
                </a:moveTo>
                <a:lnTo>
                  <a:pt x="4348748" y="0"/>
                </a:lnTo>
                <a:lnTo>
                  <a:pt x="4348748" y="3458568"/>
                </a:lnTo>
                <a:lnTo>
                  <a:pt x="0" y="3458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400000">
            <a:off x="2040907" y="5230902"/>
            <a:ext cx="1406003" cy="1096431"/>
            <a:chOff x="0" y="0"/>
            <a:chExt cx="1063444" cy="8292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3444" cy="829296"/>
            </a:xfrm>
            <a:custGeom>
              <a:avLst/>
              <a:gdLst/>
              <a:ahLst/>
              <a:cxnLst/>
              <a:rect r="r" b="b" t="t" l="l"/>
              <a:pathLst>
                <a:path h="829296" w="1063444">
                  <a:moveTo>
                    <a:pt x="0" y="41464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063444" y="203200"/>
                  </a:lnTo>
                  <a:lnTo>
                    <a:pt x="1063444" y="626096"/>
                  </a:lnTo>
                  <a:lnTo>
                    <a:pt x="406400" y="626096"/>
                  </a:lnTo>
                  <a:lnTo>
                    <a:pt x="406400" y="829296"/>
                  </a:lnTo>
                  <a:lnTo>
                    <a:pt x="0" y="414648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98425"/>
              <a:ext cx="961844" cy="52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221149" y="5517670"/>
            <a:ext cx="991013" cy="937886"/>
            <a:chOff x="0" y="0"/>
            <a:chExt cx="876272" cy="8292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76272" cy="829296"/>
            </a:xfrm>
            <a:custGeom>
              <a:avLst/>
              <a:gdLst/>
              <a:ahLst/>
              <a:cxnLst/>
              <a:rect r="r" b="b" t="t" l="l"/>
              <a:pathLst>
                <a:path h="829296" w="876272">
                  <a:moveTo>
                    <a:pt x="0" y="41464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76272" y="203200"/>
                  </a:lnTo>
                  <a:lnTo>
                    <a:pt x="876272" y="626096"/>
                  </a:lnTo>
                  <a:lnTo>
                    <a:pt x="406400" y="626096"/>
                  </a:lnTo>
                  <a:lnTo>
                    <a:pt x="406400" y="829296"/>
                  </a:lnTo>
                  <a:lnTo>
                    <a:pt x="0" y="414648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98425"/>
              <a:ext cx="774672" cy="527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849065" y="6482119"/>
            <a:ext cx="5674127" cy="3077122"/>
          </a:xfrm>
          <a:custGeom>
            <a:avLst/>
            <a:gdLst/>
            <a:ahLst/>
            <a:cxnLst/>
            <a:rect r="r" b="b" t="t" l="l"/>
            <a:pathLst>
              <a:path h="3077122" w="5674127">
                <a:moveTo>
                  <a:pt x="0" y="0"/>
                </a:moveTo>
                <a:lnTo>
                  <a:pt x="5674127" y="0"/>
                </a:lnTo>
                <a:lnTo>
                  <a:pt x="5674127" y="3077123"/>
                </a:lnTo>
                <a:lnTo>
                  <a:pt x="0" y="3077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49065" y="647997"/>
            <a:ext cx="8761511" cy="77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Discounts &amp; Pricing Strategies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8985" y="1888170"/>
            <a:ext cx="7624571" cy="36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How much d</a:t>
            </a: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iscount has been applied to each order?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9065" y="2500754"/>
            <a:ext cx="6805044" cy="230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7"/>
              </a:lnSpc>
            </a:pPr>
            <a:r>
              <a:rPr lang="en-US" sz="1911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O.OrderID, SUM((C.DiscountPercentage/100) * O.TotalAmount) AS TotalDiscount</a:t>
            </a:r>
          </a:p>
          <a:p>
            <a:pPr algn="l">
              <a:lnSpc>
                <a:spcPts val="3057"/>
              </a:lnSpc>
            </a:pPr>
            <a:r>
              <a:rPr lang="en-US" sz="1911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OrderCoupons OC</a:t>
            </a:r>
          </a:p>
          <a:p>
            <a:pPr algn="l">
              <a:lnSpc>
                <a:spcPts val="3057"/>
              </a:lnSpc>
            </a:pPr>
            <a:r>
              <a:rPr lang="en-US" sz="1911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Orders O ON OC.OrderID = O.OrderID</a:t>
            </a:r>
          </a:p>
          <a:p>
            <a:pPr algn="l">
              <a:lnSpc>
                <a:spcPts val="3057"/>
              </a:lnSpc>
            </a:pPr>
            <a:r>
              <a:rPr lang="en-US" sz="1911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Coupons C ON OC.CouponID = C.CouponID</a:t>
            </a:r>
          </a:p>
          <a:p>
            <a:pPr algn="l">
              <a:lnSpc>
                <a:spcPts val="3057"/>
              </a:lnSpc>
            </a:pPr>
            <a:r>
              <a:rPr lang="en-US" sz="1911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O.OrderID;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5516" y="1786401"/>
            <a:ext cx="7228241" cy="360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How can p</a:t>
            </a: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roducts be categorized by price range?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0576" y="2284933"/>
            <a:ext cx="7093180" cy="3138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ProductName,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   CASE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       WHEN Price &lt; 100 THEN 'Budget'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       WHEN Price BETWEEN 100 AND 500 THEN 'Mid-range'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       ELSE 'Premium'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   END AS PriceCategory</a:t>
            </a:r>
          </a:p>
          <a:p>
            <a:pPr algn="l">
              <a:lnSpc>
                <a:spcPts val="3142"/>
              </a:lnSpc>
            </a:pPr>
            <a:r>
              <a:rPr lang="en-US" sz="1964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Products;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85725" y="8974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3722" y="3083024"/>
            <a:ext cx="8029277" cy="2621459"/>
            <a:chOff x="0" y="0"/>
            <a:chExt cx="10705703" cy="34952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05592" cy="3495294"/>
            </a:xfrm>
            <a:custGeom>
              <a:avLst/>
              <a:gdLst/>
              <a:ahLst/>
              <a:cxnLst/>
              <a:rect r="r" b="b" t="t" l="l"/>
              <a:pathLst>
                <a:path h="3495294" w="10705592">
                  <a:moveTo>
                    <a:pt x="0" y="132207"/>
                  </a:moveTo>
                  <a:cubicBezTo>
                    <a:pt x="0" y="59182"/>
                    <a:pt x="59182" y="0"/>
                    <a:pt x="132207" y="0"/>
                  </a:cubicBezTo>
                  <a:lnTo>
                    <a:pt x="10573385" y="0"/>
                  </a:lnTo>
                  <a:cubicBezTo>
                    <a:pt x="10646410" y="0"/>
                    <a:pt x="10705592" y="59182"/>
                    <a:pt x="10705592" y="132207"/>
                  </a:cubicBezTo>
                  <a:lnTo>
                    <a:pt x="10705592" y="3362960"/>
                  </a:lnTo>
                  <a:cubicBezTo>
                    <a:pt x="10705592" y="3435985"/>
                    <a:pt x="10646410" y="3495167"/>
                    <a:pt x="10573385" y="3495167"/>
                  </a:cubicBezTo>
                  <a:lnTo>
                    <a:pt x="132207" y="3495167"/>
                  </a:lnTo>
                  <a:cubicBezTo>
                    <a:pt x="59182" y="3495294"/>
                    <a:pt x="0" y="3436112"/>
                    <a:pt x="0" y="3362960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08616" y="3112984"/>
            <a:ext cx="8052792" cy="2828845"/>
            <a:chOff x="0" y="0"/>
            <a:chExt cx="10737057" cy="37717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7088" cy="3771833"/>
            </a:xfrm>
            <a:custGeom>
              <a:avLst/>
              <a:gdLst/>
              <a:ahLst/>
              <a:cxnLst/>
              <a:rect r="r" b="b" t="t" l="l"/>
              <a:pathLst>
                <a:path h="3771833" w="10737088">
                  <a:moveTo>
                    <a:pt x="0" y="59568"/>
                  </a:moveTo>
                  <a:cubicBezTo>
                    <a:pt x="0" y="26742"/>
                    <a:pt x="21209" y="0"/>
                    <a:pt x="47244" y="0"/>
                  </a:cubicBezTo>
                  <a:lnTo>
                    <a:pt x="10689844" y="0"/>
                  </a:lnTo>
                  <a:cubicBezTo>
                    <a:pt x="10715879" y="0"/>
                    <a:pt x="10737088" y="26742"/>
                    <a:pt x="10737088" y="59568"/>
                  </a:cubicBezTo>
                  <a:lnTo>
                    <a:pt x="10737088" y="3712275"/>
                  </a:lnTo>
                  <a:cubicBezTo>
                    <a:pt x="10737088" y="3745102"/>
                    <a:pt x="10715879" y="3771833"/>
                    <a:pt x="10689844" y="3771833"/>
                  </a:cubicBezTo>
                  <a:lnTo>
                    <a:pt x="47244" y="3771833"/>
                  </a:lnTo>
                  <a:cubicBezTo>
                    <a:pt x="21209" y="3771833"/>
                    <a:pt x="0" y="3745102"/>
                    <a:pt x="0" y="3712275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46431" y="6869480"/>
            <a:ext cx="5004678" cy="3274666"/>
          </a:xfrm>
          <a:custGeom>
            <a:avLst/>
            <a:gdLst/>
            <a:ahLst/>
            <a:cxnLst/>
            <a:rect r="r" b="b" t="t" l="l"/>
            <a:pathLst>
              <a:path h="3274666" w="5004678">
                <a:moveTo>
                  <a:pt x="0" y="0"/>
                </a:moveTo>
                <a:lnTo>
                  <a:pt x="5004678" y="0"/>
                </a:lnTo>
                <a:lnTo>
                  <a:pt x="5004678" y="3274666"/>
                </a:lnTo>
                <a:lnTo>
                  <a:pt x="0" y="3274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316423" y="7107511"/>
            <a:ext cx="5539025" cy="2381105"/>
          </a:xfrm>
          <a:custGeom>
            <a:avLst/>
            <a:gdLst/>
            <a:ahLst/>
            <a:cxnLst/>
            <a:rect r="r" b="b" t="t" l="l"/>
            <a:pathLst>
              <a:path h="2381105" w="5539025">
                <a:moveTo>
                  <a:pt x="0" y="0"/>
                </a:moveTo>
                <a:lnTo>
                  <a:pt x="5539025" y="0"/>
                </a:lnTo>
                <a:lnTo>
                  <a:pt x="5539025" y="2381106"/>
                </a:lnTo>
                <a:lnTo>
                  <a:pt x="0" y="2381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939502" y="5941829"/>
            <a:ext cx="1165683" cy="116568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104775"/>
              <a:ext cx="406400" cy="81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6591" y="630436"/>
            <a:ext cx="13278594" cy="75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Customer Insights: Understanding Our Patrons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6591" y="2259756"/>
            <a:ext cx="6812995" cy="42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6"/>
              </a:lnSpc>
            </a:pPr>
            <a:r>
              <a:rPr lang="en-US" sz="281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 Which customers have spent the most?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5136" y="2098631"/>
            <a:ext cx="8019752" cy="814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61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How many u</a:t>
            </a:r>
            <a:r>
              <a:rPr lang="en-US" sz="261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nique delivered orders were made by each customer?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78590" y="3230642"/>
            <a:ext cx="7580710" cy="247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0"/>
              </a:lnSpc>
            </a:pPr>
            <a:r>
              <a:rPr lang="en-US" sz="20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C.Name, COUNT(DISTINCT O.OrderID) AS DeliveredOrders</a:t>
            </a:r>
          </a:p>
          <a:p>
            <a:pPr algn="l">
              <a:lnSpc>
                <a:spcPts val="3260"/>
              </a:lnSpc>
            </a:pPr>
            <a:r>
              <a:rPr lang="en-US" sz="20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Customers C</a:t>
            </a:r>
          </a:p>
          <a:p>
            <a:pPr algn="l">
              <a:lnSpc>
                <a:spcPts val="3260"/>
              </a:lnSpc>
            </a:pPr>
            <a:r>
              <a:rPr lang="en-US" sz="20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Orders O ON C.CustomerID = O.CustomerID</a:t>
            </a:r>
          </a:p>
          <a:p>
            <a:pPr algn="l">
              <a:lnSpc>
                <a:spcPts val="3260"/>
              </a:lnSpc>
            </a:pPr>
            <a:r>
              <a:rPr lang="en-US" sz="20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WHERE O.Status = 'Delivered'</a:t>
            </a:r>
          </a:p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C.Name;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834" y="2989159"/>
            <a:ext cx="6812995" cy="258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 C.Name, SUM(O.TotalAmount) AS TotalSpent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Customers C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JOIN Orders O ON C.CustomerID = O.CustomerID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GROUP BY C.Name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ORDER BY TotalSpent DESC</a:t>
            </a:r>
          </a:p>
          <a:p>
            <a:pPr algn="l">
              <a:lnSpc>
                <a:spcPts val="3381"/>
              </a:lnSpc>
              <a:spcBef>
                <a:spcPct val="0"/>
              </a:spcBef>
            </a:pPr>
            <a:r>
              <a:rPr lang="en-US" sz="2076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LIMIT 5;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303984" y="5704483"/>
            <a:ext cx="1164958" cy="1164998"/>
            <a:chOff x="0" y="0"/>
            <a:chExt cx="1032191" cy="10322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2191" cy="1032226"/>
            </a:xfrm>
            <a:custGeom>
              <a:avLst/>
              <a:gdLst/>
              <a:ahLst/>
              <a:cxnLst/>
              <a:rect r="r" b="b" t="t" l="l"/>
              <a:pathLst>
                <a:path h="1032226" w="1032191">
                  <a:moveTo>
                    <a:pt x="516095" y="1032226"/>
                  </a:moveTo>
                  <a:lnTo>
                    <a:pt x="0" y="625826"/>
                  </a:lnTo>
                  <a:lnTo>
                    <a:pt x="203200" y="625826"/>
                  </a:lnTo>
                  <a:lnTo>
                    <a:pt x="203200" y="0"/>
                  </a:lnTo>
                  <a:lnTo>
                    <a:pt x="828991" y="0"/>
                  </a:lnTo>
                  <a:lnTo>
                    <a:pt x="828991" y="625826"/>
                  </a:lnTo>
                  <a:lnTo>
                    <a:pt x="1032191" y="625826"/>
                  </a:lnTo>
                  <a:lnTo>
                    <a:pt x="516095" y="1032226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-104775"/>
              <a:ext cx="625791" cy="1035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12272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87871" y="3083421"/>
            <a:ext cx="5189041" cy="3213521"/>
            <a:chOff x="0" y="0"/>
            <a:chExt cx="6918722" cy="42846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18833" cy="4284775"/>
            </a:xfrm>
            <a:custGeom>
              <a:avLst/>
              <a:gdLst/>
              <a:ahLst/>
              <a:cxnLst/>
              <a:rect r="r" b="b" t="t" l="l"/>
              <a:pathLst>
                <a:path h="4284775" w="6918833">
                  <a:moveTo>
                    <a:pt x="0" y="44994"/>
                  </a:moveTo>
                  <a:cubicBezTo>
                    <a:pt x="0" y="20065"/>
                    <a:pt x="20955" y="0"/>
                    <a:pt x="46990" y="0"/>
                  </a:cubicBezTo>
                  <a:lnTo>
                    <a:pt x="6871843" y="0"/>
                  </a:lnTo>
                  <a:cubicBezTo>
                    <a:pt x="6897751" y="0"/>
                    <a:pt x="6918833" y="20065"/>
                    <a:pt x="6918833" y="44994"/>
                  </a:cubicBezTo>
                  <a:lnTo>
                    <a:pt x="6918833" y="4239778"/>
                  </a:lnTo>
                  <a:cubicBezTo>
                    <a:pt x="6918833" y="4264585"/>
                    <a:pt x="6897878" y="4284775"/>
                    <a:pt x="6871843" y="4284775"/>
                  </a:cubicBezTo>
                  <a:lnTo>
                    <a:pt x="46990" y="4284775"/>
                  </a:lnTo>
                  <a:cubicBezTo>
                    <a:pt x="21082" y="4284775"/>
                    <a:pt x="0" y="4264706"/>
                    <a:pt x="0" y="4239778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58546" y="3083421"/>
            <a:ext cx="5165824" cy="2416274"/>
            <a:chOff x="0" y="0"/>
            <a:chExt cx="6887765" cy="32216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87718" cy="3221723"/>
            </a:xfrm>
            <a:custGeom>
              <a:avLst/>
              <a:gdLst/>
              <a:ahLst/>
              <a:cxnLst/>
              <a:rect r="r" b="b" t="t" l="l"/>
              <a:pathLst>
                <a:path h="3221723" w="6887718">
                  <a:moveTo>
                    <a:pt x="0" y="142451"/>
                  </a:moveTo>
                  <a:cubicBezTo>
                    <a:pt x="0" y="63724"/>
                    <a:pt x="58801" y="0"/>
                    <a:pt x="131445" y="0"/>
                  </a:cubicBezTo>
                  <a:lnTo>
                    <a:pt x="6756273" y="0"/>
                  </a:lnTo>
                  <a:cubicBezTo>
                    <a:pt x="6828917" y="0"/>
                    <a:pt x="6887718" y="63724"/>
                    <a:pt x="6887718" y="142451"/>
                  </a:cubicBezTo>
                  <a:lnTo>
                    <a:pt x="6887718" y="3079274"/>
                  </a:lnTo>
                  <a:cubicBezTo>
                    <a:pt x="6887718" y="3158000"/>
                    <a:pt x="6828917" y="3221723"/>
                    <a:pt x="6756273" y="3221723"/>
                  </a:cubicBezTo>
                  <a:lnTo>
                    <a:pt x="131445" y="3221723"/>
                  </a:lnTo>
                  <a:cubicBezTo>
                    <a:pt x="58801" y="3221723"/>
                    <a:pt x="0" y="3157863"/>
                    <a:pt x="0" y="3079274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55462" y="3393703"/>
            <a:ext cx="5165824" cy="2229594"/>
            <a:chOff x="0" y="0"/>
            <a:chExt cx="6887765" cy="29727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7718" cy="2972816"/>
            </a:xfrm>
            <a:custGeom>
              <a:avLst/>
              <a:gdLst/>
              <a:ahLst/>
              <a:cxnLst/>
              <a:rect r="r" b="b" t="t" l="l"/>
              <a:pathLst>
                <a:path h="2972816" w="6887718">
                  <a:moveTo>
                    <a:pt x="0" y="131445"/>
                  </a:moveTo>
                  <a:cubicBezTo>
                    <a:pt x="0" y="58801"/>
                    <a:pt x="58801" y="0"/>
                    <a:pt x="131445" y="0"/>
                  </a:cubicBezTo>
                  <a:lnTo>
                    <a:pt x="6756273" y="0"/>
                  </a:lnTo>
                  <a:cubicBezTo>
                    <a:pt x="6828917" y="0"/>
                    <a:pt x="6887718" y="58801"/>
                    <a:pt x="6887718" y="131445"/>
                  </a:cubicBezTo>
                  <a:lnTo>
                    <a:pt x="6887718" y="2841371"/>
                  </a:lnTo>
                  <a:cubicBezTo>
                    <a:pt x="6887718" y="2914015"/>
                    <a:pt x="6828917" y="2972816"/>
                    <a:pt x="6756273" y="2972816"/>
                  </a:cubicBezTo>
                  <a:lnTo>
                    <a:pt x="131445" y="2972816"/>
                  </a:lnTo>
                  <a:cubicBezTo>
                    <a:pt x="58801" y="2972816"/>
                    <a:pt x="0" y="2913888"/>
                    <a:pt x="0" y="2841371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21531" y="7353895"/>
            <a:ext cx="4498271" cy="2837855"/>
          </a:xfrm>
          <a:custGeom>
            <a:avLst/>
            <a:gdLst/>
            <a:ahLst/>
            <a:cxnLst/>
            <a:rect r="r" b="b" t="t" l="l"/>
            <a:pathLst>
              <a:path h="2837855" w="4498271">
                <a:moveTo>
                  <a:pt x="0" y="0"/>
                </a:moveTo>
                <a:lnTo>
                  <a:pt x="4498271" y="0"/>
                </a:lnTo>
                <a:lnTo>
                  <a:pt x="4498271" y="2837855"/>
                </a:lnTo>
                <a:lnTo>
                  <a:pt x="0" y="2837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652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40704" y="7353895"/>
            <a:ext cx="5510692" cy="2359964"/>
          </a:xfrm>
          <a:custGeom>
            <a:avLst/>
            <a:gdLst/>
            <a:ahLst/>
            <a:cxnLst/>
            <a:rect r="r" b="b" t="t" l="l"/>
            <a:pathLst>
              <a:path h="2359964" w="5510692">
                <a:moveTo>
                  <a:pt x="0" y="0"/>
                </a:moveTo>
                <a:lnTo>
                  <a:pt x="5510692" y="0"/>
                </a:lnTo>
                <a:lnTo>
                  <a:pt x="5510692" y="2359964"/>
                </a:lnTo>
                <a:lnTo>
                  <a:pt x="0" y="235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97" r="-15047" b="-1697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72721" y="7094190"/>
            <a:ext cx="5982741" cy="2933738"/>
          </a:xfrm>
          <a:custGeom>
            <a:avLst/>
            <a:gdLst/>
            <a:ahLst/>
            <a:cxnLst/>
            <a:rect r="r" b="b" t="t" l="l"/>
            <a:pathLst>
              <a:path h="2933738" w="5982741">
                <a:moveTo>
                  <a:pt x="0" y="0"/>
                </a:moveTo>
                <a:lnTo>
                  <a:pt x="5982741" y="0"/>
                </a:lnTo>
                <a:lnTo>
                  <a:pt x="5982741" y="2933738"/>
                </a:lnTo>
                <a:lnTo>
                  <a:pt x="0" y="2933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6" t="0" r="-1416" b="-5692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5400000">
            <a:off x="13873075" y="5865917"/>
            <a:ext cx="1730598" cy="1245359"/>
            <a:chOff x="0" y="0"/>
            <a:chExt cx="986805" cy="7101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6805" cy="710116"/>
            </a:xfrm>
            <a:custGeom>
              <a:avLst/>
              <a:gdLst/>
              <a:ahLst/>
              <a:cxnLst/>
              <a:rect r="r" b="b" t="t" l="l"/>
              <a:pathLst>
                <a:path h="710116" w="986805">
                  <a:moveTo>
                    <a:pt x="0" y="355058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6805" y="203200"/>
                  </a:lnTo>
                  <a:lnTo>
                    <a:pt x="986805" y="506916"/>
                  </a:lnTo>
                  <a:lnTo>
                    <a:pt x="406400" y="506916"/>
                  </a:lnTo>
                  <a:lnTo>
                    <a:pt x="406400" y="710116"/>
                  </a:lnTo>
                  <a:lnTo>
                    <a:pt x="0" y="355058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98425"/>
              <a:ext cx="885205" cy="408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21531" y="618827"/>
            <a:ext cx="13277701" cy="76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Product Insights: What Sells and How It's Rated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8897" y="2005360"/>
            <a:ext cx="496699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What are the t</a:t>
            </a: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op 5 best-selling products?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2573" y="3155801"/>
            <a:ext cx="4719638" cy="298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P.ProductName, SUM(OD.Quantity) AS TotalSold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OrderDetails OD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Products P ON OD.ProductID = P.ProductID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P.ProductName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ORDER BY TotalSold DESC</a:t>
            </a:r>
          </a:p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LIMIT 5;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81639" y="1965251"/>
            <a:ext cx="4126409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Which p</a:t>
            </a: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roducts have received 5-star reviews?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81639" y="3155801"/>
            <a:ext cx="4719637" cy="235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8"/>
              </a:lnSpc>
            </a:pPr>
            <a:r>
              <a:rPr lang="en-US" sz="19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DISTINCT p.ProductName,rating</a:t>
            </a:r>
          </a:p>
          <a:p>
            <a:pPr algn="l">
              <a:lnSpc>
                <a:spcPts val="3098"/>
              </a:lnSpc>
            </a:pPr>
            <a:r>
              <a:rPr lang="en-US" sz="19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products p</a:t>
            </a:r>
          </a:p>
          <a:p>
            <a:pPr algn="l">
              <a:lnSpc>
                <a:spcPts val="3098"/>
              </a:lnSpc>
            </a:pPr>
            <a:r>
              <a:rPr lang="en-US" sz="19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JOIN productreviews r ON p.productID = r.productID</a:t>
            </a:r>
          </a:p>
          <a:p>
            <a:pPr algn="l">
              <a:lnSpc>
                <a:spcPts val="3099"/>
              </a:lnSpc>
            </a:pPr>
            <a:r>
              <a:rPr lang="en-US" sz="19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WHERE r.rating = 5;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43693" y="1473051"/>
            <a:ext cx="4189362" cy="179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What are the a</a:t>
            </a:r>
            <a:r>
              <a:rPr lang="en-US" sz="224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verage prices of products by category, filtered to only show categories with an average price greater than $100?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78556" y="3513892"/>
            <a:ext cx="4719638" cy="187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Category,AVG(price) AS avg_price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products</a:t>
            </a:r>
          </a:p>
          <a:p>
            <a:pPr algn="l">
              <a:lnSpc>
                <a:spcPts val="2936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category </a:t>
            </a:r>
          </a:p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Having AVG(price) &gt;100;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8174670" y="5802858"/>
            <a:ext cx="1583035" cy="999629"/>
            <a:chOff x="0" y="0"/>
            <a:chExt cx="1287168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7168" cy="812800"/>
            </a:xfrm>
            <a:custGeom>
              <a:avLst/>
              <a:gdLst/>
              <a:ahLst/>
              <a:cxnLst/>
              <a:rect r="r" b="b" t="t" l="l"/>
              <a:pathLst>
                <a:path h="812800" w="1287168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1287168" y="203200"/>
                  </a:lnTo>
                  <a:lnTo>
                    <a:pt x="1287168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98425"/>
              <a:ext cx="1185568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2542190" y="6354187"/>
            <a:ext cx="1056952" cy="953923"/>
            <a:chOff x="0" y="0"/>
            <a:chExt cx="986805" cy="8906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6805" cy="890613"/>
            </a:xfrm>
            <a:custGeom>
              <a:avLst/>
              <a:gdLst/>
              <a:ahLst/>
              <a:cxnLst/>
              <a:rect r="r" b="b" t="t" l="l"/>
              <a:pathLst>
                <a:path h="890613" w="986805">
                  <a:moveTo>
                    <a:pt x="0" y="44530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986805" y="203200"/>
                  </a:lnTo>
                  <a:lnTo>
                    <a:pt x="986805" y="687413"/>
                  </a:lnTo>
                  <a:lnTo>
                    <a:pt x="406400" y="687413"/>
                  </a:lnTo>
                  <a:lnTo>
                    <a:pt x="406400" y="890613"/>
                  </a:lnTo>
                  <a:lnTo>
                    <a:pt x="0" y="445307"/>
                  </a:lnTo>
                  <a:close/>
                </a:path>
              </a:pathLst>
            </a:custGeom>
            <a:solidFill>
              <a:srgbClr val="495A9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01600" y="98425"/>
              <a:ext cx="885205" cy="588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6391" y="3728162"/>
            <a:ext cx="8120012" cy="2612115"/>
            <a:chOff x="0" y="0"/>
            <a:chExt cx="10773767" cy="34657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73791" cy="3465813"/>
            </a:xfrm>
            <a:custGeom>
              <a:avLst/>
              <a:gdLst/>
              <a:ahLst/>
              <a:cxnLst/>
              <a:rect r="r" b="b" t="t" l="l"/>
              <a:pathLst>
                <a:path h="3465813" w="10773791">
                  <a:moveTo>
                    <a:pt x="0" y="184256"/>
                  </a:moveTo>
                  <a:cubicBezTo>
                    <a:pt x="0" y="82489"/>
                    <a:pt x="56515" y="0"/>
                    <a:pt x="126238" y="0"/>
                  </a:cubicBezTo>
                  <a:lnTo>
                    <a:pt x="10647553" y="0"/>
                  </a:lnTo>
                  <a:cubicBezTo>
                    <a:pt x="10717276" y="0"/>
                    <a:pt x="10773791" y="82489"/>
                    <a:pt x="10773791" y="184256"/>
                  </a:cubicBezTo>
                  <a:lnTo>
                    <a:pt x="10773791" y="3281565"/>
                  </a:lnTo>
                  <a:cubicBezTo>
                    <a:pt x="10773791" y="3383332"/>
                    <a:pt x="10717276" y="3465813"/>
                    <a:pt x="10647553" y="3465813"/>
                  </a:cubicBezTo>
                  <a:lnTo>
                    <a:pt x="126238" y="3465813"/>
                  </a:lnTo>
                  <a:cubicBezTo>
                    <a:pt x="56515" y="3465813"/>
                    <a:pt x="0" y="3383332"/>
                    <a:pt x="0" y="3281565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48139" y="3593101"/>
            <a:ext cx="8330959" cy="2877266"/>
            <a:chOff x="0" y="0"/>
            <a:chExt cx="10773767" cy="37209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73791" cy="3720847"/>
            </a:xfrm>
            <a:custGeom>
              <a:avLst/>
              <a:gdLst/>
              <a:ahLst/>
              <a:cxnLst/>
              <a:rect r="r" b="b" t="t" l="l"/>
              <a:pathLst>
                <a:path h="3720847" w="10773791">
                  <a:moveTo>
                    <a:pt x="0" y="248073"/>
                  </a:moveTo>
                  <a:cubicBezTo>
                    <a:pt x="0" y="111059"/>
                    <a:pt x="56515" y="0"/>
                    <a:pt x="126238" y="0"/>
                  </a:cubicBezTo>
                  <a:lnTo>
                    <a:pt x="10647553" y="0"/>
                  </a:lnTo>
                  <a:cubicBezTo>
                    <a:pt x="10717276" y="0"/>
                    <a:pt x="10773791" y="111059"/>
                    <a:pt x="10773791" y="248073"/>
                  </a:cubicBezTo>
                  <a:lnTo>
                    <a:pt x="10773791" y="3472773"/>
                  </a:lnTo>
                  <a:cubicBezTo>
                    <a:pt x="10773791" y="3609788"/>
                    <a:pt x="10717276" y="3720847"/>
                    <a:pt x="10647553" y="3720847"/>
                  </a:cubicBezTo>
                  <a:lnTo>
                    <a:pt x="126238" y="3720847"/>
                  </a:lnTo>
                  <a:cubicBezTo>
                    <a:pt x="56515" y="3720847"/>
                    <a:pt x="0" y="3609788"/>
                    <a:pt x="0" y="3472773"/>
                  </a:cubicBezTo>
                  <a:close/>
                </a:path>
              </a:pathLst>
            </a:custGeom>
            <a:solidFill>
              <a:srgbClr val="151B33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7785361"/>
            <a:ext cx="5118110" cy="2350798"/>
          </a:xfrm>
          <a:custGeom>
            <a:avLst/>
            <a:gdLst/>
            <a:ahLst/>
            <a:cxnLst/>
            <a:rect r="r" b="b" t="t" l="l"/>
            <a:pathLst>
              <a:path h="2350798" w="5118110">
                <a:moveTo>
                  <a:pt x="0" y="0"/>
                </a:moveTo>
                <a:lnTo>
                  <a:pt x="5118110" y="0"/>
                </a:lnTo>
                <a:lnTo>
                  <a:pt x="5118110" y="2350798"/>
                </a:lnTo>
                <a:lnTo>
                  <a:pt x="0" y="2350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32" b="-3003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318280" y="7608901"/>
            <a:ext cx="4790678" cy="2331374"/>
          </a:xfrm>
          <a:custGeom>
            <a:avLst/>
            <a:gdLst/>
            <a:ahLst/>
            <a:cxnLst/>
            <a:rect r="r" b="b" t="t" l="l"/>
            <a:pathLst>
              <a:path h="2331374" w="4790678">
                <a:moveTo>
                  <a:pt x="0" y="0"/>
                </a:moveTo>
                <a:lnTo>
                  <a:pt x="4790678" y="0"/>
                </a:lnTo>
                <a:lnTo>
                  <a:pt x="4790678" y="2331373"/>
                </a:lnTo>
                <a:lnTo>
                  <a:pt x="0" y="23313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734" r="-469" b="-573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587799" y="6340277"/>
            <a:ext cx="1355343" cy="1445085"/>
            <a:chOff x="0" y="0"/>
            <a:chExt cx="812800" cy="8666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66618"/>
            </a:xfrm>
            <a:custGeom>
              <a:avLst/>
              <a:gdLst/>
              <a:ahLst/>
              <a:cxnLst/>
              <a:rect r="r" b="b" t="t" l="l"/>
              <a:pathLst>
                <a:path h="866618" w="812800">
                  <a:moveTo>
                    <a:pt x="406400" y="866618"/>
                  </a:moveTo>
                  <a:lnTo>
                    <a:pt x="0" y="460218"/>
                  </a:lnTo>
                  <a:lnTo>
                    <a:pt x="203200" y="460218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60218"/>
                  </a:lnTo>
                  <a:lnTo>
                    <a:pt x="812800" y="460218"/>
                  </a:lnTo>
                  <a:lnTo>
                    <a:pt x="406400" y="866618"/>
                  </a:lnTo>
                  <a:close/>
                </a:path>
              </a:pathLst>
            </a:custGeom>
            <a:solidFill>
              <a:srgbClr val="8C98C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104775"/>
              <a:ext cx="406400" cy="86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8789" y="591294"/>
            <a:ext cx="12924830" cy="73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Order &amp; Shipment Trends: Tracking the Journey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0398" y="2343943"/>
            <a:ext cx="7393597" cy="94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5"/>
              </a:lnSpc>
            </a:pPr>
            <a:r>
              <a:rPr lang="en-US" sz="29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</a:t>
            </a:r>
            <a:r>
              <a:rPr lang="en-US" sz="29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ow many orders were placed each month?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1198" y="3964074"/>
            <a:ext cx="7651997" cy="199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DATE_FORMAT(OrderDate, '%Y-%m') AS Month, COUNT(OrderID) AS Orders</a:t>
            </a:r>
          </a:p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Orders</a:t>
            </a:r>
          </a:p>
          <a:p>
            <a:pPr algn="l">
              <a:lnSpc>
                <a:spcPts val="3937"/>
              </a:lnSpc>
            </a:pPr>
            <a:r>
              <a:rPr lang="en-US" sz="2449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DATE_FORMAT(OrderDate, '%Y-%m');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48769" y="2343943"/>
            <a:ext cx="7462794" cy="80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5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How many s</a:t>
            </a:r>
            <a:r>
              <a:rPr lang="en-US" sz="25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hipments were handled by each carrier?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5674" y="3594812"/>
            <a:ext cx="7195890" cy="315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</a:p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Carrier,</a:t>
            </a:r>
          </a:p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    COUNT(ShipmentID) AS TotalShipments</a:t>
            </a:r>
          </a:p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FROM Shipments</a:t>
            </a:r>
          </a:p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GROUP BY Carrier</a:t>
            </a:r>
          </a:p>
          <a:p>
            <a:pPr algn="l">
              <a:lnSpc>
                <a:spcPts val="3561"/>
              </a:lnSpc>
            </a:pPr>
            <a:r>
              <a:rPr lang="en-US" sz="2216">
                <a:solidFill>
                  <a:srgbClr val="EBECEF"/>
                </a:solidFill>
                <a:latin typeface="Consolas"/>
                <a:ea typeface="Consolas"/>
                <a:cs typeface="Consolas"/>
                <a:sym typeface="Consolas"/>
              </a:rPr>
              <a:t>ORDER BY TotalShipments DESC;</a:t>
            </a:r>
          </a:p>
          <a:p>
            <a:pPr algn="l">
              <a:lnSpc>
                <a:spcPts val="3562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13240948" y="6534290"/>
            <a:ext cx="945342" cy="1007936"/>
            <a:chOff x="0" y="0"/>
            <a:chExt cx="812800" cy="8666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66618"/>
            </a:xfrm>
            <a:custGeom>
              <a:avLst/>
              <a:gdLst/>
              <a:ahLst/>
              <a:cxnLst/>
              <a:rect r="r" b="b" t="t" l="l"/>
              <a:pathLst>
                <a:path h="866618" w="812800">
                  <a:moveTo>
                    <a:pt x="406400" y="866618"/>
                  </a:moveTo>
                  <a:lnTo>
                    <a:pt x="0" y="460218"/>
                  </a:lnTo>
                  <a:lnTo>
                    <a:pt x="203200" y="460218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60218"/>
                  </a:lnTo>
                  <a:lnTo>
                    <a:pt x="812800" y="460218"/>
                  </a:lnTo>
                  <a:lnTo>
                    <a:pt x="406400" y="866618"/>
                  </a:lnTo>
                  <a:close/>
                </a:path>
              </a:pathLst>
            </a:custGeom>
            <a:solidFill>
              <a:srgbClr val="8C98C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03200" y="-104775"/>
              <a:ext cx="406400" cy="8697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737201"/>
            <a:chOff x="0" y="0"/>
            <a:chExt cx="24384000" cy="143162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316267"/>
            </a:xfrm>
            <a:custGeom>
              <a:avLst/>
              <a:gdLst/>
              <a:ahLst/>
              <a:cxnLst/>
              <a:rect r="r" b="b" t="t" l="l"/>
              <a:pathLst>
                <a:path h="1431626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316267"/>
                  </a:lnTo>
                  <a:lnTo>
                    <a:pt x="0" y="14316267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7229" y="3943814"/>
            <a:ext cx="16673542" cy="4807446"/>
            <a:chOff x="0" y="0"/>
            <a:chExt cx="22231390" cy="6409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31415" cy="6409937"/>
            </a:xfrm>
            <a:custGeom>
              <a:avLst/>
              <a:gdLst/>
              <a:ahLst/>
              <a:cxnLst/>
              <a:rect r="r" b="b" t="t" l="l"/>
              <a:pathLst>
                <a:path h="6409937" w="22231415">
                  <a:moveTo>
                    <a:pt x="0" y="231834"/>
                  </a:moveTo>
                  <a:cubicBezTo>
                    <a:pt x="0" y="103862"/>
                    <a:pt x="145638" y="0"/>
                    <a:pt x="325086" y="0"/>
                  </a:cubicBezTo>
                  <a:lnTo>
                    <a:pt x="21906354" y="0"/>
                  </a:lnTo>
                  <a:cubicBezTo>
                    <a:pt x="22085802" y="0"/>
                    <a:pt x="22231415" y="103862"/>
                    <a:pt x="22231415" y="231834"/>
                  </a:cubicBezTo>
                  <a:lnTo>
                    <a:pt x="22231415" y="6178106"/>
                  </a:lnTo>
                  <a:cubicBezTo>
                    <a:pt x="22231415" y="6306079"/>
                    <a:pt x="22085802" y="6409937"/>
                    <a:pt x="21906354" y="6409937"/>
                  </a:cubicBezTo>
                  <a:lnTo>
                    <a:pt x="325086" y="6409937"/>
                  </a:lnTo>
                  <a:cubicBezTo>
                    <a:pt x="145638" y="6409937"/>
                    <a:pt x="0" y="6306079"/>
                    <a:pt x="0" y="6178106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28713" y="481184"/>
            <a:ext cx="2075256" cy="2166915"/>
          </a:xfrm>
          <a:custGeom>
            <a:avLst/>
            <a:gdLst/>
            <a:ahLst/>
            <a:cxnLst/>
            <a:rect r="r" b="b" t="t" l="l"/>
            <a:pathLst>
              <a:path h="2166915" w="2075256">
                <a:moveTo>
                  <a:pt x="0" y="0"/>
                </a:moveTo>
                <a:lnTo>
                  <a:pt x="2075255" y="0"/>
                </a:lnTo>
                <a:lnTo>
                  <a:pt x="2075255" y="2166915"/>
                </a:lnTo>
                <a:lnTo>
                  <a:pt x="0" y="21669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0381" y="1102604"/>
            <a:ext cx="8224094" cy="9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Conclusion &amp; Next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7703" y="2341369"/>
            <a:ext cx="16303526" cy="9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4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SQL is a powerful tool for deriving actionable insights from e-commerce data. The analytical framework</a:t>
            </a:r>
          </a:p>
          <a:p>
            <a:pPr algn="l">
              <a:lnSpc>
                <a:spcPts val="4051"/>
              </a:lnSpc>
            </a:pPr>
            <a:r>
              <a:rPr lang="en-US" sz="24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presented enables a deeper understanding of sales, customers, and operational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88954"/>
            <a:ext cx="20985892" cy="291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Provides key insights for improving sales strategy, product performance, customer 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engagement, and operational efficiency.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Enables generation of reports to monitor business trends.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Helps identify top-performing products.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Assists in evaluating marketing campaigns.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Tracks customer behavior effectively.</a:t>
            </a:r>
          </a:p>
          <a:p>
            <a:pPr algn="l" marL="568243" indent="-284122" lvl="1">
              <a:lnSpc>
                <a:spcPts val="3289"/>
              </a:lnSpc>
              <a:buFont typeface="Arial"/>
              <a:buChar char="•"/>
            </a:pPr>
            <a:r>
              <a:rPr lang="en-US" b="true" sz="2631">
                <a:solidFill>
                  <a:srgbClr val="FFFFFF"/>
                </a:solidFill>
                <a:latin typeface="Consolas Bold"/>
                <a:ea typeface="Consolas Bold"/>
                <a:cs typeface="Consolas Bold"/>
                <a:sym typeface="Consolas Bold"/>
              </a:rPr>
              <a:t>Demonstrates the practical use of SQL in real-world e-commerce trend analysis.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07120" y="9225683"/>
            <a:ext cx="7959864" cy="210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0"/>
              </a:lnSpc>
            </a:pPr>
            <a:r>
              <a:rPr lang="en-US" sz="4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--- TEAM 4</a:t>
            </a:r>
          </a:p>
          <a:p>
            <a:pPr algn="ctr">
              <a:lnSpc>
                <a:spcPts val="5560"/>
              </a:lnSpc>
            </a:pPr>
          </a:p>
          <a:p>
            <a:pPr algn="ctr">
              <a:lnSpc>
                <a:spcPts val="556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894897" y="3914342"/>
            <a:ext cx="849820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DAGx6MewxEA</dc:identifier>
  <dcterms:modified xsi:type="dcterms:W3CDTF">2011-08-01T06:04:30Z</dcterms:modified>
  <cp:revision>1</cp:revision>
  <dc:title>E-commerce-Trends-Analysis-using-SQL.pptx</dc:title>
</cp:coreProperties>
</file>